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2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F1-Score</c:v>
                </c:pt>
              </c:strCache>
            </c:strRef>
          </c:tx>
          <c:spPr>
            <a:solidFill>
              <a:srgbClr val="C9A227">
                <a:alpha val="100000"/>
              </a:srgbClr>
            </a:solidFill>
            <a:effectLst/>
          </c:spPr>
          <c:invertIfNegative val="0"/>
          <c:dLbls>
            <c:numFmt formatCode="0.0%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1E2761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C9A227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E2761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9AA0B0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XGBoost</c:v>
                  </c:pt>
                  <c:pt idx="1">
                    <c:v>Reg. Logística</c:v>
                  </c:pt>
                  <c:pt idx="2">
                    <c:v>Baseline
(clase mayoritaria)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0.9638</c:v>
                </c:pt>
                <c:pt idx="1">
                  <c:v>0.9635</c:v>
                </c:pt>
                <c:pt idx="2">
                  <c:v>0</c:v>
                </c:pt>
              </c:numCache>
            </c:numRef>
          </c:val>
        </c:ser>
        <c:dLbls>
          <c:numFmt formatCode="0.0%" sourceLinked="0"/>
          <c:txPr>
            <a:bodyPr/>
            <a:lstStyle/>
            <a:p>
              <a:pPr>
                <a:defRPr b="1" i="0" strike="noStrike" sz="1300" u="none">
                  <a:solidFill>
                    <a:srgbClr val="1E2761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50" b="1" i="0" u="none" strike="noStrike">
                <a:solidFill>
                  <a:srgbClr val="5A6072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.1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Importancia</c:v>
                </c:pt>
              </c:strCache>
            </c:strRef>
          </c:tx>
          <c:spPr>
            <a:solidFill>
              <a:srgbClr val="C9A227"/>
            </a:solidFill>
            <a:effectLst/>
          </c:spPr>
          <c:invertIfNegative val="0"/>
          <c:dLbls>
            <c:numFmt formatCode="0.0%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1E2761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Frecuencia mensual</c:v>
                  </c:pt>
                  <c:pt idx="1">
                    <c:v>Direct Debit mensual obligatorio</c:v>
                  </c:pt>
                  <c:pt idx="2">
                    <c:v>Pagos por año</c:v>
                  </c:pt>
                  <c:pt idx="3">
                    <c:v>Frecuencia trimestral</c:v>
                  </c:pt>
                  <c:pt idx="4">
                    <c:v>Otras variables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0.8105</c:v>
                </c:pt>
                <c:pt idx="1">
                  <c:v>0.1574</c:v>
                </c:pt>
                <c:pt idx="2">
                  <c:v>0.0189</c:v>
                </c:pt>
                <c:pt idx="3">
                  <c:v>0.0006</c:v>
                </c:pt>
                <c:pt idx="4">
                  <c:v>0.0126</c:v>
                </c:pt>
              </c:numCache>
            </c:numRef>
          </c:val>
        </c:ser>
        <c:dLbls>
          <c:numFmt formatCode="0.0%" sourceLinked="0"/>
          <c:txPr>
            <a:bodyPr/>
            <a:lstStyle/>
            <a:p>
              <a:pPr>
                <a:defRPr b="1" i="0" strike="noStrike" sz="1200" u="none">
                  <a:solidFill>
                    <a:srgbClr val="1E2761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1" i="0" u="none" strike="noStrike">
                <a:solidFill>
                  <a:srgbClr val="1E2761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95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Apertura. Saludar al consejo y al CDAO. Encuadre: el consejo planteó por qué tan pocos clientes usan Direct Debit. Hoy presentamos un modelo que responde esa pregunta de forma accionable.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pregunta de negocio. 21% vs 65% del mercado = 44 puntos de oportunidad. El mensaje clave: NO queremos una campaña masiva y costosa; queremos targeting inteligente.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Por qué importa: flujo de caja confiable, CCC más corto, menos costo administrativo, menos churn. Conectar con la prioridad financiera del consejo.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Enfoque CRISP-DM. Enfatizar la eliminación de IDs (anti data-leakage) como buena práctica de rigor, y las variables de negocio creadas.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Resultados principales. Leer las 4 métricas grandes. La barra de F1 muestra que el baseline es inútil (0) aunque tenga 79% accuracy — esto justifica el proyecto.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Matriz de confusión. Solo 31 falsos positivos = precision casi perfecta = no molestamos a clientes equivocados. 1,298 falsos negativos = margen de mejora honesto.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ROC 0.98 y AP 0.97. Mencionar que AP es la métrica correcta porque los datos están desbalanceados (solo ~21% positivos).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Importancia de variables. Ser transparentes: el modelo depende fuertemente de la frecuencia mensual, que es una regla operativa de Allianz. Proponer el experimento de quitarla.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XGBoost vs Random Forest. Honestidad: casi empatan. RF = conservador (0 FP). XGB = más recall. Elegimos XGB porque el objetivo es maximizar oportunidades detectadas.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Resultado de negocio. La lista de candidatos es el entregable tangible. Retail + Quarterly son el perfil objetivo. Mostrar el embudo: de toda la base a una campaña quirúrgica.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Recomendación y siguientes pasos. Pedir aprobación para piloto. Destacar medición de incrementalidad para probar ROI ante el consejo.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Cierre. Reforzar el vínculo datos → flujo de efectivo. Abrir a preguntas.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image" Target="../media/image-4-9.png"/><Relationship Id="rId10" Type="http://schemas.openxmlformats.org/officeDocument/2006/relationships/image" Target="../media/image-4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image" Target="../media/image-5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image" Target="../media/image-8-1.png"/><Relationship Id="rId3" Type="http://schemas.openxmlformats.org/officeDocument/2006/relationships/image" Target="../media/image-8-2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8778240" y="-2011680"/>
            <a:ext cx="5669280" cy="5669280"/>
          </a:xfrm>
          <a:prstGeom prst="ellipse">
            <a:avLst/>
          </a:prstGeom>
          <a:solidFill>
            <a:srgbClr val="151B47"/>
          </a:solidFill>
          <a:ln/>
        </p:spPr>
      </p:sp>
      <p:sp>
        <p:nvSpPr>
          <p:cNvPr id="4" name="Shape 2"/>
          <p:cNvSpPr/>
          <p:nvPr/>
        </p:nvSpPr>
        <p:spPr>
          <a:xfrm>
            <a:off x="10058400" y="3291840"/>
            <a:ext cx="4206240" cy="4206240"/>
          </a:xfrm>
          <a:prstGeom prst="ellipse">
            <a:avLst/>
          </a:prstGeom>
          <a:solidFill>
            <a:srgbClr val="151B47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868680"/>
            <a:ext cx="777240" cy="7772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691640" y="969264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ALLIANZ BENELUX  ·  DATA &amp; ANALYTICS OFFICE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777240" y="2057400"/>
            <a:ext cx="10607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Predicción de Direct Debit</a:t>
            </a:r>
            <a:endParaRPr lang="en-US" sz="4800" dirty="0"/>
          </a:p>
        </p:txBody>
      </p:sp>
      <p:sp>
        <p:nvSpPr>
          <p:cNvPr id="8" name="Text 5"/>
          <p:cNvSpPr/>
          <p:nvPr/>
        </p:nvSpPr>
        <p:spPr>
          <a:xfrm>
            <a:off x="777240" y="2880360"/>
            <a:ext cx="10607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E3C7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 Machine Learning</a:t>
            </a:r>
            <a:endParaRPr lang="en-US" sz="4800" dirty="0"/>
          </a:p>
        </p:txBody>
      </p:sp>
      <p:sp>
        <p:nvSpPr>
          <p:cNvPr id="9" name="Text 6"/>
          <p:cNvSpPr/>
          <p:nvPr/>
        </p:nvSpPr>
        <p:spPr>
          <a:xfrm>
            <a:off x="804672" y="3977640"/>
            <a:ext cx="8961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identificar a los contratos con mayor potencial de adopción para priorizar campañas comerciales, fortalecer el flujo de efectivo y acortar el ciclo de conversión de caja.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804672" y="5440680"/>
            <a:ext cx="10561320" cy="0"/>
          </a:xfrm>
          <a:prstGeom prst="line">
            <a:avLst/>
          </a:prstGeom>
          <a:noFill/>
          <a:ln w="15875">
            <a:solidFill>
              <a:srgbClr val="C9A227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04672" y="562356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Presentado a:  </a:t>
            </a:r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Junta Directiva  ·  Chief Data &amp; Analytics Officer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8595360" y="562356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9A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Equipo  </a:t>
            </a:r>
            <a:pPr algn="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Analytics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657600"/>
            <a:ext cx="5943600" cy="5943600"/>
          </a:xfrm>
          <a:prstGeom prst="ellipse">
            <a:avLst/>
          </a:prstGeom>
          <a:solidFill>
            <a:srgbClr val="151B47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64008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PREGUNTA DE NEGOCIO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731520" y="1051560"/>
            <a:ext cx="106984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Solo el 21% de los contratos de Allianz se pagan por Direct Debit, frente al 65% del mercado.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731520" y="2606040"/>
            <a:ext cx="3429000" cy="1691640"/>
          </a:xfrm>
          <a:prstGeom prst="roundRect">
            <a:avLst>
              <a:gd name="adj" fmla="val 6486"/>
            </a:avLst>
          </a:prstGeom>
          <a:solidFill>
            <a:srgbClr val="151B47"/>
          </a:solidFill>
          <a:ln w="12700">
            <a:solidFill>
              <a:srgbClr val="33407A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68680" y="2743200"/>
            <a:ext cx="3154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6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21%</a:t>
            </a:r>
            <a:endParaRPr lang="en-US" sz="4600" dirty="0"/>
          </a:p>
        </p:txBody>
      </p:sp>
      <p:sp>
        <p:nvSpPr>
          <p:cNvPr id="7" name="Text 5"/>
          <p:cNvSpPr/>
          <p:nvPr/>
        </p:nvSpPr>
        <p:spPr>
          <a:xfrm>
            <a:off x="896112" y="3611880"/>
            <a:ext cx="310896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Adopción actual de</a:t>
            </a:r>
            <a:endParaRPr lang="en-US" sz="12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Debit en Allianz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343400" y="2606040"/>
            <a:ext cx="3429000" cy="1691640"/>
          </a:xfrm>
          <a:prstGeom prst="roundRect">
            <a:avLst>
              <a:gd name="adj" fmla="val 6486"/>
            </a:avLst>
          </a:prstGeom>
          <a:solidFill>
            <a:srgbClr val="151B47"/>
          </a:solidFill>
          <a:ln w="12700">
            <a:solidFill>
              <a:srgbClr val="33407A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480560" y="2743200"/>
            <a:ext cx="3154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6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65%</a:t>
            </a:r>
            <a:endParaRPr lang="en-US" sz="4600" dirty="0"/>
          </a:p>
        </p:txBody>
      </p:sp>
      <p:sp>
        <p:nvSpPr>
          <p:cNvPr id="10" name="Text 8"/>
          <p:cNvSpPr/>
          <p:nvPr/>
        </p:nvSpPr>
        <p:spPr>
          <a:xfrm>
            <a:off x="4507992" y="3611880"/>
            <a:ext cx="310896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Promedio del mercado</a:t>
            </a:r>
            <a:endParaRPr lang="en-US" sz="12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asegurador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7955280" y="2606040"/>
            <a:ext cx="3429000" cy="1691640"/>
          </a:xfrm>
          <a:prstGeom prst="roundRect">
            <a:avLst>
              <a:gd name="adj" fmla="val 6486"/>
            </a:avLst>
          </a:prstGeom>
          <a:solidFill>
            <a:srgbClr val="151B47"/>
          </a:solidFill>
          <a:ln w="12700">
            <a:solidFill>
              <a:srgbClr val="33407A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092440" y="2743200"/>
            <a:ext cx="3154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44 pts</a:t>
            </a:r>
            <a:endParaRPr lang="en-US" sz="4600" dirty="0"/>
          </a:p>
        </p:txBody>
      </p:sp>
      <p:sp>
        <p:nvSpPr>
          <p:cNvPr id="13" name="Text 11"/>
          <p:cNvSpPr/>
          <p:nvPr/>
        </p:nvSpPr>
        <p:spPr>
          <a:xfrm>
            <a:off x="8119872" y="3611880"/>
            <a:ext cx="310896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Brecha de oportunidad</a:t>
            </a:r>
            <a:endParaRPr lang="en-US" sz="12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capturar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731520" y="4617720"/>
            <a:ext cx="10725912" cy="1508760"/>
          </a:xfrm>
          <a:prstGeom prst="roundRect">
            <a:avLst>
              <a:gd name="adj" fmla="val 6061"/>
            </a:avLst>
          </a:prstGeom>
          <a:solidFill>
            <a:srgbClr val="232C5C"/>
          </a:solidFill>
          <a:ln/>
        </p:spPr>
      </p:sp>
      <p:pic>
        <p:nvPicPr>
          <p:cNvPr id="1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4983480"/>
            <a:ext cx="914400" cy="914400"/>
          </a:xfrm>
          <a:prstGeom prst="rect">
            <a:avLst/>
          </a:prstGeom>
        </p:spPr>
      </p:pic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4983480"/>
            <a:ext cx="777240" cy="77724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2057400" y="48006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reto no es lanzar una campaña masiva.</a:t>
            </a:r>
            <a:endParaRPr lang="en-US" sz="1700" dirty="0"/>
          </a:p>
        </p:txBody>
      </p:sp>
      <p:sp>
        <p:nvSpPr>
          <p:cNvPr id="18" name="Text 14"/>
          <p:cNvSpPr/>
          <p:nvPr/>
        </p:nvSpPr>
        <p:spPr>
          <a:xfrm>
            <a:off x="2057400" y="5257800"/>
            <a:ext cx="91440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Allianz quiere una forma inteligente de identificar a los contratos más prometedores y concentrar el esfuerzo comercial donde la probabilidad de conversión es alta.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QUÉ IMPORTA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valor de negocio de Direct Debit para Allianz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2715768" cy="2788920"/>
          </a:xfrm>
          <a:prstGeom prst="roundRect">
            <a:avLst>
              <a:gd name="adj" fmla="val 3367"/>
            </a:avLst>
          </a:prstGeom>
          <a:solidFill>
            <a:srgbClr val="F6F8FD"/>
          </a:solidFill>
          <a:ln/>
          <a:effectLst>
            <a:outerShdw sx="100000" sy="100000" kx="0" ky="0" algn="bl" rotWithShape="0" blurRad="114300" dist="38100" dir="5400000">
              <a:srgbClr val="9BB0D8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1965960"/>
            <a:ext cx="868680" cy="868680"/>
          </a:xfrm>
          <a:prstGeom prst="ellipse">
            <a:avLst/>
          </a:prstGeom>
          <a:solidFill>
            <a:srgbClr val="EEF3FC"/>
          </a:solidFill>
          <a:ln w="12700">
            <a:solidFill>
              <a:srgbClr val="CADCFC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6696" y="2157984"/>
            <a:ext cx="484632" cy="48463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04672" y="2971800"/>
            <a:ext cx="2258568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Flujo de efectivo confiable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04672" y="3520440"/>
            <a:ext cx="2258568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Allianz sabe con precisión cuándo y cuánto entra, mejorando el forecast y la planeación financiera.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3429000" y="1691640"/>
            <a:ext cx="2715768" cy="2788920"/>
          </a:xfrm>
          <a:prstGeom prst="roundRect">
            <a:avLst>
              <a:gd name="adj" fmla="val 3367"/>
            </a:avLst>
          </a:prstGeom>
          <a:solidFill>
            <a:srgbClr val="F6F8FD"/>
          </a:solidFill>
          <a:ln/>
          <a:effectLst>
            <a:outerShdw sx="100000" sy="100000" kx="0" ky="0" algn="bl" rotWithShape="0" blurRad="114300" dist="38100" dir="5400000">
              <a:srgbClr val="9BB0D8">
                <a:alpha val="2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685032" y="1965960"/>
            <a:ext cx="868680" cy="868680"/>
          </a:xfrm>
          <a:prstGeom prst="ellipse">
            <a:avLst/>
          </a:prstGeom>
          <a:solidFill>
            <a:srgbClr val="EEF3FC"/>
          </a:solidFill>
          <a:ln w="12700">
            <a:solidFill>
              <a:srgbClr val="CADCFC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77056" y="2157984"/>
            <a:ext cx="484632" cy="48463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685032" y="2971800"/>
            <a:ext cx="2258568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Ciclo de caja más corto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3685032" y="3520440"/>
            <a:ext cx="2258568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Acorta el período de cobro de cuentas por cobrar y reduce el tiempo que el efectivo queda inmovilizado (CCC).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6309360" y="1691640"/>
            <a:ext cx="2715768" cy="2788920"/>
          </a:xfrm>
          <a:prstGeom prst="roundRect">
            <a:avLst>
              <a:gd name="adj" fmla="val 3367"/>
            </a:avLst>
          </a:prstGeom>
          <a:solidFill>
            <a:srgbClr val="F6F8FD"/>
          </a:solidFill>
          <a:ln/>
          <a:effectLst>
            <a:outerShdw sx="100000" sy="100000" kx="0" ky="0" algn="bl" rotWithShape="0" blurRad="114300" dist="38100" dir="5400000">
              <a:srgbClr val="9BB0D8">
                <a:alpha val="2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565392" y="1965960"/>
            <a:ext cx="868680" cy="868680"/>
          </a:xfrm>
          <a:prstGeom prst="ellipse">
            <a:avLst/>
          </a:prstGeom>
          <a:solidFill>
            <a:srgbClr val="EEF3FC"/>
          </a:solidFill>
          <a:ln w="12700">
            <a:solidFill>
              <a:srgbClr val="CADCFC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57416" y="2157984"/>
            <a:ext cx="484632" cy="48463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565392" y="2971800"/>
            <a:ext cx="2258568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Menor costo operativo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6565392" y="3520440"/>
            <a:ext cx="2258568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el esfuerzo manual de facturación y cobranza, simplificando el proceso administrativo.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9189720" y="1691640"/>
            <a:ext cx="2715768" cy="2788920"/>
          </a:xfrm>
          <a:prstGeom prst="roundRect">
            <a:avLst>
              <a:gd name="adj" fmla="val 3367"/>
            </a:avLst>
          </a:prstGeom>
          <a:solidFill>
            <a:srgbClr val="F6F8FD"/>
          </a:solidFill>
          <a:ln/>
          <a:effectLst>
            <a:outerShdw sx="100000" sy="100000" kx="0" ky="0" algn="bl" rotWithShape="0" blurRad="114300" dist="38100" dir="5400000">
              <a:srgbClr val="9BB0D8">
                <a:alpha val="2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9445752" y="1965960"/>
            <a:ext cx="868680" cy="868680"/>
          </a:xfrm>
          <a:prstGeom prst="ellipse">
            <a:avLst/>
          </a:prstGeom>
          <a:solidFill>
            <a:srgbClr val="EEF3FC"/>
          </a:solidFill>
          <a:ln w="12700">
            <a:solidFill>
              <a:srgbClr val="CADCFC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37776" y="2157984"/>
            <a:ext cx="484632" cy="48463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445752" y="2971800"/>
            <a:ext cx="2258568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Mayor retención</a:t>
            </a:r>
            <a:endParaRPr lang="en-US" sz="1600" dirty="0"/>
          </a:p>
        </p:txBody>
      </p:sp>
      <p:sp>
        <p:nvSpPr>
          <p:cNvPr id="23" name="Text 17"/>
          <p:cNvSpPr/>
          <p:nvPr/>
        </p:nvSpPr>
        <p:spPr>
          <a:xfrm>
            <a:off x="9445752" y="3520440"/>
            <a:ext cx="2258568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pagos continúan salvo solicitud explícita del cliente, lo que disminuye la tasa de cancelación (churn).</a:t>
            </a:r>
            <a:endParaRPr lang="en-US" sz="1200" dirty="0"/>
          </a:p>
        </p:txBody>
      </p:sp>
      <p:sp>
        <p:nvSpPr>
          <p:cNvPr id="24" name="Shape 18"/>
          <p:cNvSpPr/>
          <p:nvPr/>
        </p:nvSpPr>
        <p:spPr>
          <a:xfrm>
            <a:off x="548640" y="4800600"/>
            <a:ext cx="11091672" cy="1234440"/>
          </a:xfrm>
          <a:prstGeom prst="roundRect">
            <a:avLst>
              <a:gd name="adj" fmla="val 7407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14300" dist="38100" dir="5400000">
              <a:srgbClr val="9BB0D8">
                <a:alpha val="28000"/>
              </a:srgbClr>
            </a:outerShdw>
          </a:effectLst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8680" y="5138928"/>
            <a:ext cx="566928" cy="566928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1600200" y="4983480"/>
            <a:ext cx="97840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50" b="1" dirty="0">
                <a:solidFill>
                  <a:srgbClr val="E3C7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Marco estratégico (CRISP-DM).  </a:t>
            </a:r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modelo predictivo es la fase de modelado de un proyecto que termina en una estrategia accionable: una lista priorizada de contratos para que Marketing y Comercial actúen con foco, no a ciegas.</a:t>
            </a:r>
            <a:endParaRPr lang="en-US" sz="1350" dirty="0"/>
          </a:p>
        </p:txBody>
      </p:sp>
      <p:sp>
        <p:nvSpPr>
          <p:cNvPr id="27" name="Text 20"/>
          <p:cNvSpPr/>
          <p:nvPr/>
        </p:nvSpPr>
        <p:spPr>
          <a:xfrm>
            <a:off x="548640" y="6419088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Allianz  ·  Predicción de Direct Debit con ML</a:t>
            </a:r>
            <a:endParaRPr lang="en-US" sz="900" dirty="0"/>
          </a:p>
        </p:txBody>
      </p:sp>
      <p:sp>
        <p:nvSpPr>
          <p:cNvPr id="28" name="Text 21"/>
          <p:cNvSpPr/>
          <p:nvPr/>
        </p:nvSpPr>
        <p:spPr>
          <a:xfrm>
            <a:off x="5486400" y="6419088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Contexto de negocio</a:t>
            </a:r>
            <a:endParaRPr lang="en-US" sz="900" dirty="0"/>
          </a:p>
        </p:txBody>
      </p:sp>
      <p:sp>
        <p:nvSpPr>
          <p:cNvPr id="29" name="Text 22"/>
          <p:cNvSpPr/>
          <p:nvPr/>
        </p:nvSpPr>
        <p:spPr>
          <a:xfrm>
            <a:off x="11430000" y="641908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NUESTRO ENFOQUE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 datos crudos a un modelo accionable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2139696" cy="2880360"/>
          </a:xfrm>
          <a:prstGeom prst="roundRect">
            <a:avLst>
              <a:gd name="adj" fmla="val 4274"/>
            </a:avLst>
          </a:prstGeom>
          <a:solidFill>
            <a:srgbClr val="F6F8FD"/>
          </a:solidFill>
          <a:ln/>
          <a:effectLst>
            <a:outerShdw sx="100000" sy="100000" kx="0" ky="0" algn="bl" rotWithShape="0" blurRad="114300" dist="38100" dir="5400000">
              <a:srgbClr val="9BB0D8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2084832"/>
            <a:ext cx="457200" cy="457200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208483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7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25880" y="2121408"/>
            <a:ext cx="420624" cy="42062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49808" y="2697480"/>
            <a:ext cx="17739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Limpieza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749808" y="3154680"/>
            <a:ext cx="1755648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Duplicados eliminados, target validado (0/1), tipos numéricos corregidos. Se conserva «No age» = empresas.</a:t>
            </a:r>
            <a:endParaRPr lang="en-US" sz="11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88336" y="3154680"/>
            <a:ext cx="164592" cy="164592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2798064" y="1874520"/>
            <a:ext cx="2139696" cy="2880360"/>
          </a:xfrm>
          <a:prstGeom prst="roundRect">
            <a:avLst>
              <a:gd name="adj" fmla="val 4274"/>
            </a:avLst>
          </a:prstGeom>
          <a:solidFill>
            <a:srgbClr val="F6F8FD"/>
          </a:solidFill>
          <a:ln/>
          <a:effectLst>
            <a:outerShdw sx="100000" sy="100000" kx="0" ky="0" algn="bl" rotWithShape="0" blurRad="114300" dist="38100" dir="5400000">
              <a:srgbClr val="9BB0D8">
                <a:alpha val="28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2980944" y="2084832"/>
            <a:ext cx="457200" cy="457200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13" name="Text 9"/>
          <p:cNvSpPr/>
          <p:nvPr/>
        </p:nvSpPr>
        <p:spPr>
          <a:xfrm>
            <a:off x="2980944" y="208483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700" dirty="0"/>
          </a:p>
        </p:txBody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75304" y="2121408"/>
            <a:ext cx="420624" cy="420624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2999232" y="2697480"/>
            <a:ext cx="17739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Anti-fuga</a:t>
            </a:r>
            <a:endParaRPr lang="en-US" sz="1500" dirty="0"/>
          </a:p>
        </p:txBody>
      </p:sp>
      <p:sp>
        <p:nvSpPr>
          <p:cNvPr id="16" name="Text 11"/>
          <p:cNvSpPr/>
          <p:nvPr/>
        </p:nvSpPr>
        <p:spPr>
          <a:xfrm>
            <a:off x="2999232" y="3154680"/>
            <a:ext cx="1755648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eliminan IDs de cliente, contrato y broker para que el modelo aprenda patrones, no memorice registros.</a:t>
            </a:r>
            <a:endParaRPr lang="en-US" sz="1100" dirty="0"/>
          </a:p>
        </p:txBody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7760" y="3154680"/>
            <a:ext cx="164592" cy="164592"/>
          </a:xfrm>
          <a:prstGeom prst="rect">
            <a:avLst/>
          </a:prstGeom>
        </p:spPr>
      </p:pic>
      <p:sp>
        <p:nvSpPr>
          <p:cNvPr id="18" name="Shape 12"/>
          <p:cNvSpPr/>
          <p:nvPr/>
        </p:nvSpPr>
        <p:spPr>
          <a:xfrm>
            <a:off x="5047488" y="1874520"/>
            <a:ext cx="2139696" cy="2880360"/>
          </a:xfrm>
          <a:prstGeom prst="roundRect">
            <a:avLst>
              <a:gd name="adj" fmla="val 4274"/>
            </a:avLst>
          </a:prstGeom>
          <a:solidFill>
            <a:srgbClr val="F6F8FD"/>
          </a:solidFill>
          <a:ln/>
          <a:effectLst>
            <a:outerShdw sx="100000" sy="100000" kx="0" ky="0" algn="bl" rotWithShape="0" blurRad="114300" dist="38100" dir="5400000">
              <a:srgbClr val="9BB0D8">
                <a:alpha val="28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5230368" y="2084832"/>
            <a:ext cx="457200" cy="457200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20" name="Text 14"/>
          <p:cNvSpPr/>
          <p:nvPr/>
        </p:nvSpPr>
        <p:spPr>
          <a:xfrm>
            <a:off x="5230368" y="208483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700" dirty="0"/>
          </a:p>
        </p:txBody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24728" y="2121408"/>
            <a:ext cx="420624" cy="420624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5248656" y="2697480"/>
            <a:ext cx="17739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Feature engineering</a:t>
            </a:r>
            <a:endParaRPr lang="en-US" sz="1500" dirty="0"/>
          </a:p>
        </p:txBody>
      </p:sp>
      <p:sp>
        <p:nvSpPr>
          <p:cNvPr id="23" name="Text 16"/>
          <p:cNvSpPr/>
          <p:nvPr/>
        </p:nvSpPr>
        <p:spPr>
          <a:xfrm>
            <a:off x="5248656" y="3154680"/>
            <a:ext cx="1755648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 con lógica de negocio: frecuencia de pago, pagos por año, log de prima y conteos de relación.</a:t>
            </a:r>
            <a:endParaRPr lang="en-US" sz="1100" dirty="0"/>
          </a:p>
        </p:txBody>
      </p:sp>
      <p:pic>
        <p:nvPicPr>
          <p:cNvPr id="2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87184" y="3154680"/>
            <a:ext cx="164592" cy="164592"/>
          </a:xfrm>
          <a:prstGeom prst="rect">
            <a:avLst/>
          </a:prstGeom>
        </p:spPr>
      </p:pic>
      <p:sp>
        <p:nvSpPr>
          <p:cNvPr id="25" name="Shape 17"/>
          <p:cNvSpPr/>
          <p:nvPr/>
        </p:nvSpPr>
        <p:spPr>
          <a:xfrm>
            <a:off x="7296912" y="1874520"/>
            <a:ext cx="2139696" cy="2880360"/>
          </a:xfrm>
          <a:prstGeom prst="roundRect">
            <a:avLst>
              <a:gd name="adj" fmla="val 4274"/>
            </a:avLst>
          </a:prstGeom>
          <a:solidFill>
            <a:srgbClr val="F6F8FD"/>
          </a:solidFill>
          <a:ln/>
          <a:effectLst>
            <a:outerShdw sx="100000" sy="100000" kx="0" ky="0" algn="bl" rotWithShape="0" blurRad="114300" dist="38100" dir="5400000">
              <a:srgbClr val="9BB0D8">
                <a:alpha val="28000"/>
              </a:srgbClr>
            </a:outerShdw>
          </a:effectLst>
        </p:spPr>
      </p:sp>
      <p:sp>
        <p:nvSpPr>
          <p:cNvPr id="26" name="Shape 18"/>
          <p:cNvSpPr/>
          <p:nvPr/>
        </p:nvSpPr>
        <p:spPr>
          <a:xfrm>
            <a:off x="7479792" y="2084832"/>
            <a:ext cx="457200" cy="457200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27" name="Text 19"/>
          <p:cNvSpPr/>
          <p:nvPr/>
        </p:nvSpPr>
        <p:spPr>
          <a:xfrm>
            <a:off x="7479792" y="208483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700" dirty="0"/>
          </a:p>
        </p:txBody>
      </p:sp>
      <p:pic>
        <p:nvPicPr>
          <p:cNvPr id="2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74152" y="2121408"/>
            <a:ext cx="420624" cy="420624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7498080" y="2697480"/>
            <a:ext cx="17739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Encoding</a:t>
            </a:r>
            <a:endParaRPr lang="en-US" sz="1500" dirty="0"/>
          </a:p>
        </p:txBody>
      </p:sp>
      <p:sp>
        <p:nvSpPr>
          <p:cNvPr id="30" name="Text 21"/>
          <p:cNvSpPr/>
          <p:nvPr/>
        </p:nvSpPr>
        <p:spPr>
          <a:xfrm>
            <a:off x="7498080" y="3154680"/>
            <a:ext cx="1755648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Imputación y escalado de numéricas; One-Hot Encoding de categóricas para el entrenamiento.</a:t>
            </a:r>
            <a:endParaRPr lang="en-US" sz="1100" dirty="0"/>
          </a:p>
        </p:txBody>
      </p:sp>
      <p:pic>
        <p:nvPicPr>
          <p:cNvPr id="31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436608" y="3154680"/>
            <a:ext cx="164592" cy="164592"/>
          </a:xfrm>
          <a:prstGeom prst="rect">
            <a:avLst/>
          </a:prstGeom>
        </p:spPr>
      </p:pic>
      <p:sp>
        <p:nvSpPr>
          <p:cNvPr id="32" name="Shape 22"/>
          <p:cNvSpPr/>
          <p:nvPr/>
        </p:nvSpPr>
        <p:spPr>
          <a:xfrm>
            <a:off x="9546336" y="1874520"/>
            <a:ext cx="2139696" cy="2880360"/>
          </a:xfrm>
          <a:prstGeom prst="roundRect">
            <a:avLst>
              <a:gd name="adj" fmla="val 4274"/>
            </a:avLst>
          </a:prstGeom>
          <a:solidFill>
            <a:srgbClr val="F6F8FD"/>
          </a:solidFill>
          <a:ln/>
          <a:effectLst>
            <a:outerShdw sx="100000" sy="100000" kx="0" ky="0" algn="bl" rotWithShape="0" blurRad="114300" dist="38100" dir="5400000">
              <a:srgbClr val="9BB0D8">
                <a:alpha val="28000"/>
              </a:srgbClr>
            </a:outerShdw>
          </a:effectLst>
        </p:spPr>
      </p:sp>
      <p:sp>
        <p:nvSpPr>
          <p:cNvPr id="33" name="Shape 23"/>
          <p:cNvSpPr/>
          <p:nvPr/>
        </p:nvSpPr>
        <p:spPr>
          <a:xfrm>
            <a:off x="9729216" y="2084832"/>
            <a:ext cx="457200" cy="457200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34" name="Text 24"/>
          <p:cNvSpPr/>
          <p:nvPr/>
        </p:nvSpPr>
        <p:spPr>
          <a:xfrm>
            <a:off x="9729216" y="208483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700" dirty="0"/>
          </a:p>
        </p:txBody>
      </p:sp>
      <p:pic>
        <p:nvPicPr>
          <p:cNvPr id="35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323576" y="2121408"/>
            <a:ext cx="420624" cy="420624"/>
          </a:xfrm>
          <a:prstGeom prst="rect">
            <a:avLst/>
          </a:prstGeom>
        </p:spPr>
      </p:pic>
      <p:sp>
        <p:nvSpPr>
          <p:cNvPr id="36" name="Text 25"/>
          <p:cNvSpPr/>
          <p:nvPr/>
        </p:nvSpPr>
        <p:spPr>
          <a:xfrm>
            <a:off x="9747504" y="2697480"/>
            <a:ext cx="17739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Modelado</a:t>
            </a:r>
            <a:endParaRPr lang="en-US" sz="1500" dirty="0"/>
          </a:p>
        </p:txBody>
      </p:sp>
      <p:sp>
        <p:nvSpPr>
          <p:cNvPr id="37" name="Text 26"/>
          <p:cNvSpPr/>
          <p:nvPr/>
        </p:nvSpPr>
        <p:spPr>
          <a:xfrm>
            <a:off x="9747504" y="3154680"/>
            <a:ext cx="1755648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Baselines + Regresión Logística vs. Random Forest y XGBoost, evaluados sobre el mismo conjunto de prueba.</a:t>
            </a:r>
            <a:endParaRPr lang="en-US" sz="1100" dirty="0"/>
          </a:p>
        </p:txBody>
      </p:sp>
      <p:sp>
        <p:nvSpPr>
          <p:cNvPr id="38" name="Shape 27"/>
          <p:cNvSpPr/>
          <p:nvPr/>
        </p:nvSpPr>
        <p:spPr>
          <a:xfrm>
            <a:off x="548640" y="5029200"/>
            <a:ext cx="11091672" cy="1005840"/>
          </a:xfrm>
          <a:prstGeom prst="roundRect">
            <a:avLst>
              <a:gd name="adj" fmla="val 9091"/>
            </a:avLst>
          </a:prstGeom>
          <a:solidFill>
            <a:srgbClr val="EEF3FC"/>
          </a:solidFill>
          <a:ln w="12700">
            <a:solidFill>
              <a:srgbClr val="CADCFC"/>
            </a:solidFill>
            <a:prstDash val="solid"/>
          </a:ln>
        </p:spPr>
      </p:sp>
      <p:pic>
        <p:nvPicPr>
          <p:cNvPr id="39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22960" y="5285232"/>
            <a:ext cx="502920" cy="502920"/>
          </a:xfrm>
          <a:prstGeom prst="rect">
            <a:avLst/>
          </a:prstGeom>
        </p:spPr>
      </p:pic>
      <p:sp>
        <p:nvSpPr>
          <p:cNvPr id="40" name="Text 28"/>
          <p:cNvSpPr/>
          <p:nvPr/>
        </p:nvSpPr>
        <p:spPr>
          <a:xfrm>
            <a:off x="1508760" y="5120640"/>
            <a:ext cx="9921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 clave creadas:  </a:t>
            </a:r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Monthly_mandatory_direct_debit (Allianz obliga Direct Debit en contratos mensuales)  ·  Payments_per_year  ·  Annual_premium_log1p  ·  conteos cliente/broker  ·  cercanía geográfica cliente-broker.</a:t>
            </a:r>
            <a:endParaRPr lang="en-US" sz="1250" dirty="0"/>
          </a:p>
        </p:txBody>
      </p:sp>
      <p:sp>
        <p:nvSpPr>
          <p:cNvPr id="41" name="Text 29"/>
          <p:cNvSpPr/>
          <p:nvPr/>
        </p:nvSpPr>
        <p:spPr>
          <a:xfrm>
            <a:off x="548640" y="6419088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Allianz  ·  Predicción de Direct Debit con ML</a:t>
            </a:r>
            <a:endParaRPr lang="en-US" sz="900" dirty="0"/>
          </a:p>
        </p:txBody>
      </p:sp>
      <p:sp>
        <p:nvSpPr>
          <p:cNvPr id="42" name="Text 30"/>
          <p:cNvSpPr/>
          <p:nvPr/>
        </p:nvSpPr>
        <p:spPr>
          <a:xfrm>
            <a:off x="5486400" y="6419088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Metodología</a:t>
            </a:r>
            <a:endParaRPr lang="en-US" sz="900" dirty="0"/>
          </a:p>
        </p:txBody>
      </p:sp>
      <p:sp>
        <p:nvSpPr>
          <p:cNvPr id="43" name="Text 31"/>
          <p:cNvSpPr/>
          <p:nvPr/>
        </p:nvSpPr>
        <p:spPr>
          <a:xfrm>
            <a:off x="11430000" y="641908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RESULTADOS PRINCIPALES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XGBoost: desempeño de grado productivo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2331720" cy="1417320"/>
          </a:xfrm>
          <a:prstGeom prst="roundRect">
            <a:avLst>
              <a:gd name="adj" fmla="val 6452"/>
            </a:avLst>
          </a:prstGeom>
          <a:solidFill>
            <a:srgbClr val="F6F8FD"/>
          </a:solidFill>
          <a:ln/>
          <a:effectLst>
            <a:outerShdw sx="100000" sy="100000" kx="0" ky="0" algn="bl" rotWithShape="0" blurRad="114300" dist="38100" dir="5400000">
              <a:srgbClr val="9BB0D8">
                <a:alpha val="2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85800" y="1965960"/>
            <a:ext cx="2057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98.5%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685800" y="2715768"/>
            <a:ext cx="2057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108960" y="1783080"/>
            <a:ext cx="2331720" cy="1417320"/>
          </a:xfrm>
          <a:prstGeom prst="roundRect">
            <a:avLst>
              <a:gd name="adj" fmla="val 6452"/>
            </a:avLst>
          </a:prstGeom>
          <a:solidFill>
            <a:srgbClr val="F6F8FD"/>
          </a:solidFill>
          <a:ln/>
          <a:effectLst>
            <a:outerShdw sx="100000" sy="100000" kx="0" ky="0" algn="bl" rotWithShape="0" blurRad="114300" dist="38100" dir="5400000">
              <a:srgbClr val="9BB0D8">
                <a:alpha val="2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246120" y="1965960"/>
            <a:ext cx="2057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99.8%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3246120" y="2715768"/>
            <a:ext cx="2057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3429000"/>
            <a:ext cx="2331720" cy="1417320"/>
          </a:xfrm>
          <a:prstGeom prst="roundRect">
            <a:avLst>
              <a:gd name="adj" fmla="val 6452"/>
            </a:avLst>
          </a:prstGeom>
          <a:solidFill>
            <a:srgbClr val="F6F8FD"/>
          </a:solidFill>
          <a:ln/>
          <a:effectLst>
            <a:outerShdw sx="100000" sy="100000" kx="0" ky="0" algn="bl" rotWithShape="0" blurRad="114300" dist="38100" dir="5400000">
              <a:srgbClr val="9BB0D8">
                <a:alpha val="2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85800" y="3611880"/>
            <a:ext cx="2057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93.2%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685800" y="4361688"/>
            <a:ext cx="2057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108960" y="3429000"/>
            <a:ext cx="2331720" cy="1417320"/>
          </a:xfrm>
          <a:prstGeom prst="roundRect">
            <a:avLst>
              <a:gd name="adj" fmla="val 6452"/>
            </a:avLst>
          </a:prstGeom>
          <a:solidFill>
            <a:srgbClr val="F6F8FD"/>
          </a:solidFill>
          <a:ln/>
          <a:effectLst>
            <a:outerShdw sx="100000" sy="100000" kx="0" ky="0" algn="bl" rotWithShape="0" blurRad="114300" dist="38100" dir="5400000">
              <a:srgbClr val="9BB0D8">
                <a:alpha val="2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246120" y="3611880"/>
            <a:ext cx="2057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96.4%</a:t>
            </a:r>
            <a:endParaRPr lang="en-US" sz="4000" dirty="0"/>
          </a:p>
        </p:txBody>
      </p:sp>
      <p:sp>
        <p:nvSpPr>
          <p:cNvPr id="15" name="Text 13"/>
          <p:cNvSpPr/>
          <p:nvPr/>
        </p:nvSpPr>
        <p:spPr>
          <a:xfrm>
            <a:off x="3246120" y="4361688"/>
            <a:ext cx="2057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F1-SCORE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48640" y="4983480"/>
            <a:ext cx="4892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ROC-AUC 0.982</a:t>
            </a:r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Average Precision 0.973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852160" y="1691640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Comparación contra los baselines (F1-Score)</a:t>
            </a:r>
            <a:endParaRPr lang="en-US" sz="1500" dirty="0"/>
          </a:p>
        </p:txBody>
      </p:sp>
      <p:graphicFrame>
        <p:nvGraphicFramePr>
          <p:cNvPr id="18" name="Chart 0" descr=""/>
          <p:cNvGraphicFramePr/>
          <p:nvPr/>
        </p:nvGraphicFramePr>
        <p:xfrm>
          <a:off x="5760720" y="2103120"/>
          <a:ext cx="5852160" cy="2788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9" name="Shape 16"/>
          <p:cNvSpPr/>
          <p:nvPr/>
        </p:nvSpPr>
        <p:spPr>
          <a:xfrm>
            <a:off x="5760720" y="5029200"/>
            <a:ext cx="5879592" cy="1005840"/>
          </a:xfrm>
          <a:prstGeom prst="roundRect">
            <a:avLst>
              <a:gd name="adj" fmla="val 9091"/>
            </a:avLst>
          </a:prstGeom>
          <a:solidFill>
            <a:srgbClr val="1E2761"/>
          </a:solidFill>
          <a:ln/>
        </p:spPr>
      </p:sp>
      <p:pic>
        <p:nvPicPr>
          <p:cNvPr id="20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9320" y="5285232"/>
            <a:ext cx="475488" cy="475488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6629400" y="5102352"/>
            <a:ext cx="48463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E3C7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modelo aporta valor real.  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baseline acierta 79% solo prediciendo la clase mayoritaria, pero no detecta ni un solo caso de Direct Debit (F1 = 0).</a:t>
            </a:r>
            <a:endParaRPr lang="en-US" sz="1200" dirty="0"/>
          </a:p>
        </p:txBody>
      </p:sp>
      <p:sp>
        <p:nvSpPr>
          <p:cNvPr id="22" name="Text 18"/>
          <p:cNvSpPr/>
          <p:nvPr/>
        </p:nvSpPr>
        <p:spPr>
          <a:xfrm>
            <a:off x="548640" y="6419088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Allianz  ·  Predicción de Direct Debit con ML</a:t>
            </a:r>
            <a:endParaRPr lang="en-US" sz="900" dirty="0"/>
          </a:p>
        </p:txBody>
      </p:sp>
      <p:sp>
        <p:nvSpPr>
          <p:cNvPr id="23" name="Text 19"/>
          <p:cNvSpPr/>
          <p:nvPr/>
        </p:nvSpPr>
        <p:spPr>
          <a:xfrm>
            <a:off x="5486400" y="6419088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Resultados · Métricas</a:t>
            </a:r>
            <a:endParaRPr lang="en-US" sz="900" dirty="0"/>
          </a:p>
        </p:txBody>
      </p:sp>
      <p:sp>
        <p:nvSpPr>
          <p:cNvPr id="24" name="Text 20"/>
          <p:cNvSpPr/>
          <p:nvPr/>
        </p:nvSpPr>
        <p:spPr>
          <a:xfrm>
            <a:off x="11430000" y="641908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CALIDAD DE LAS PREDICCIONES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Matriz de confusión: muy pocos errores costosos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371600" y="17830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Predicción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 rot="16200000">
            <a:off x="320040" y="393192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371600" y="2176272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DD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200400" y="2176272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Debit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28600" y="2542032"/>
            <a:ext cx="1005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DD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28600" y="4297680"/>
            <a:ext cx="1005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</a:t>
            </a:r>
            <a:endParaRPr lang="en-US" sz="1200" dirty="0"/>
          </a:p>
          <a:p>
            <a:pPr algn="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Debit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1371600" y="2286000"/>
            <a:ext cx="1792224" cy="1792224"/>
          </a:xfrm>
          <a:prstGeom prst="rect">
            <a:avLst/>
          </a:prstGeom>
          <a:solidFill>
            <a:srgbClr val="1E2761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371600" y="2697480"/>
            <a:ext cx="179222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71,394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1371600" y="3383280"/>
            <a:ext cx="179222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Verdaderos negativos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200400" y="2286000"/>
            <a:ext cx="1792224" cy="1792224"/>
          </a:xfrm>
          <a:prstGeom prst="rect">
            <a:avLst/>
          </a:prstGeom>
          <a:solidFill>
            <a:srgbClr val="F3E6C9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00400" y="2697480"/>
            <a:ext cx="179222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31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3200400" y="3383280"/>
            <a:ext cx="179222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Falsos positivos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1371600" y="4114800"/>
            <a:ext cx="1792224" cy="1792224"/>
          </a:xfrm>
          <a:prstGeom prst="rect">
            <a:avLst/>
          </a:prstGeom>
          <a:solidFill>
            <a:srgbClr val="F3E6C9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371600" y="4526280"/>
            <a:ext cx="179222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1,298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1371600" y="5212080"/>
            <a:ext cx="179222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Falsos negativos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200400" y="4114800"/>
            <a:ext cx="1792224" cy="1792224"/>
          </a:xfrm>
          <a:prstGeom prst="rect">
            <a:avLst/>
          </a:prstGeom>
          <a:solidFill>
            <a:srgbClr val="C9A227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00400" y="4526280"/>
            <a:ext cx="179222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17,709</a:t>
            </a:r>
            <a:endParaRPr lang="en-US" sz="3000" dirty="0"/>
          </a:p>
        </p:txBody>
      </p:sp>
      <p:sp>
        <p:nvSpPr>
          <p:cNvPr id="21" name="Text 19"/>
          <p:cNvSpPr/>
          <p:nvPr/>
        </p:nvSpPr>
        <p:spPr>
          <a:xfrm>
            <a:off x="3200400" y="5212080"/>
            <a:ext cx="179222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51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Verdaderos positivos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766560" y="1828800"/>
            <a:ext cx="4873752" cy="1325880"/>
          </a:xfrm>
          <a:prstGeom prst="roundRect">
            <a:avLst>
              <a:gd name="adj" fmla="val 6897"/>
            </a:avLst>
          </a:prstGeom>
          <a:solidFill>
            <a:srgbClr val="F6F8FD"/>
          </a:solidFill>
          <a:ln/>
          <a:effectLst>
            <a:outerShdw sx="100000" sy="100000" kx="0" ky="0" algn="bl" rotWithShape="0" blurRad="114300" dist="38100" dir="5400000">
              <a:srgbClr val="9BB0D8">
                <a:alpha val="2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7022592" y="2212848"/>
            <a:ext cx="640080" cy="640080"/>
          </a:xfrm>
          <a:prstGeom prst="ellipse">
            <a:avLst/>
          </a:prstGeom>
          <a:solidFill>
            <a:srgbClr val="EEF3FC"/>
          </a:solidFill>
          <a:ln w="12700">
            <a:solidFill>
              <a:srgbClr val="CADCFC"/>
            </a:solidFill>
            <a:prstDash val="solid"/>
          </a:ln>
        </p:spPr>
      </p:sp>
      <p:pic>
        <p:nvPicPr>
          <p:cNvPr id="2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68896" y="2359152"/>
            <a:ext cx="347472" cy="347472"/>
          </a:xfrm>
          <a:prstGeom prst="rect">
            <a:avLst/>
          </a:prstGeom>
        </p:spPr>
      </p:pic>
      <p:sp>
        <p:nvSpPr>
          <p:cNvPr id="25" name="Text 22"/>
          <p:cNvSpPr/>
          <p:nvPr/>
        </p:nvSpPr>
        <p:spPr>
          <a:xfrm>
            <a:off x="7863840" y="1993392"/>
            <a:ext cx="3611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Solo 31 falsos positivos</a:t>
            </a:r>
            <a:endParaRPr lang="en-US" sz="1500" dirty="0"/>
          </a:p>
        </p:txBody>
      </p:sp>
      <p:sp>
        <p:nvSpPr>
          <p:cNvPr id="26" name="Text 23"/>
          <p:cNvSpPr/>
          <p:nvPr/>
        </p:nvSpPr>
        <p:spPr>
          <a:xfrm>
            <a:off x="7863840" y="2359152"/>
            <a:ext cx="36118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Casi nunca recomienda contactar a un cliente equivocado → precision del 99.8% y eficiencia de campaña.</a:t>
            </a:r>
            <a:endParaRPr lang="en-US" sz="1150" dirty="0"/>
          </a:p>
        </p:txBody>
      </p:sp>
      <p:sp>
        <p:nvSpPr>
          <p:cNvPr id="27" name="Shape 24"/>
          <p:cNvSpPr/>
          <p:nvPr/>
        </p:nvSpPr>
        <p:spPr>
          <a:xfrm>
            <a:off x="6766560" y="3291840"/>
            <a:ext cx="4873752" cy="1325880"/>
          </a:xfrm>
          <a:prstGeom prst="roundRect">
            <a:avLst>
              <a:gd name="adj" fmla="val 6897"/>
            </a:avLst>
          </a:prstGeom>
          <a:solidFill>
            <a:srgbClr val="F6F8FD"/>
          </a:solidFill>
          <a:ln/>
          <a:effectLst>
            <a:outerShdw sx="100000" sy="100000" kx="0" ky="0" algn="bl" rotWithShape="0" blurRad="114300" dist="38100" dir="5400000">
              <a:srgbClr val="9BB0D8">
                <a:alpha val="28000"/>
              </a:srgbClr>
            </a:outerShdw>
          </a:effectLst>
        </p:spPr>
      </p:sp>
      <p:sp>
        <p:nvSpPr>
          <p:cNvPr id="28" name="Shape 25"/>
          <p:cNvSpPr/>
          <p:nvPr/>
        </p:nvSpPr>
        <p:spPr>
          <a:xfrm>
            <a:off x="7022592" y="3675888"/>
            <a:ext cx="640080" cy="640080"/>
          </a:xfrm>
          <a:prstGeom prst="ellipse">
            <a:avLst/>
          </a:prstGeom>
          <a:solidFill>
            <a:srgbClr val="EEF3FC"/>
          </a:solidFill>
          <a:ln w="12700">
            <a:solidFill>
              <a:srgbClr val="CADCFC"/>
            </a:solidFill>
            <a:prstDash val="solid"/>
          </a:ln>
        </p:spPr>
      </p:sp>
      <p:pic>
        <p:nvPicPr>
          <p:cNvPr id="2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68896" y="3822192"/>
            <a:ext cx="347472" cy="347472"/>
          </a:xfrm>
          <a:prstGeom prst="rect">
            <a:avLst/>
          </a:prstGeom>
        </p:spPr>
      </p:pic>
      <p:sp>
        <p:nvSpPr>
          <p:cNvPr id="30" name="Text 26"/>
          <p:cNvSpPr/>
          <p:nvPr/>
        </p:nvSpPr>
        <p:spPr>
          <a:xfrm>
            <a:off x="7863840" y="3456432"/>
            <a:ext cx="3611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1,298 falsos negativos</a:t>
            </a:r>
            <a:endParaRPr lang="en-US" sz="1500" dirty="0"/>
          </a:p>
        </p:txBody>
      </p:sp>
      <p:sp>
        <p:nvSpPr>
          <p:cNvPr id="31" name="Text 27"/>
          <p:cNvSpPr/>
          <p:nvPr/>
        </p:nvSpPr>
        <p:spPr>
          <a:xfrm>
            <a:off x="7863840" y="3822192"/>
            <a:ext cx="36118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Algunas oportunidades reales aún no se detectan → recall del 93.2%, margen de mejora identificado.</a:t>
            </a:r>
            <a:endParaRPr lang="en-US" sz="1150" dirty="0"/>
          </a:p>
        </p:txBody>
      </p:sp>
      <p:sp>
        <p:nvSpPr>
          <p:cNvPr id="32" name="Shape 28"/>
          <p:cNvSpPr/>
          <p:nvPr/>
        </p:nvSpPr>
        <p:spPr>
          <a:xfrm>
            <a:off x="6766560" y="4754880"/>
            <a:ext cx="4873752" cy="1325880"/>
          </a:xfrm>
          <a:prstGeom prst="roundRect">
            <a:avLst>
              <a:gd name="adj" fmla="val 6897"/>
            </a:avLst>
          </a:prstGeom>
          <a:solidFill>
            <a:srgbClr val="F6F8FD"/>
          </a:solidFill>
          <a:ln/>
          <a:effectLst>
            <a:outerShdw sx="100000" sy="100000" kx="0" ky="0" algn="bl" rotWithShape="0" blurRad="114300" dist="38100" dir="5400000">
              <a:srgbClr val="9BB0D8">
                <a:alpha val="28000"/>
              </a:srgbClr>
            </a:outerShdw>
          </a:effectLst>
        </p:spPr>
      </p:sp>
      <p:sp>
        <p:nvSpPr>
          <p:cNvPr id="33" name="Shape 29"/>
          <p:cNvSpPr/>
          <p:nvPr/>
        </p:nvSpPr>
        <p:spPr>
          <a:xfrm>
            <a:off x="7022592" y="5138928"/>
            <a:ext cx="640080" cy="640080"/>
          </a:xfrm>
          <a:prstGeom prst="ellipse">
            <a:avLst/>
          </a:prstGeom>
          <a:solidFill>
            <a:srgbClr val="EEF3FC"/>
          </a:solidFill>
          <a:ln w="12700">
            <a:solidFill>
              <a:srgbClr val="CADCFC"/>
            </a:solidFill>
            <a:prstDash val="solid"/>
          </a:ln>
        </p:spPr>
      </p:sp>
      <p:pic>
        <p:nvPicPr>
          <p:cNvPr id="3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68896" y="5285232"/>
            <a:ext cx="347472" cy="347472"/>
          </a:xfrm>
          <a:prstGeom prst="rect">
            <a:avLst/>
          </a:prstGeom>
        </p:spPr>
      </p:pic>
      <p:sp>
        <p:nvSpPr>
          <p:cNvPr id="35" name="Text 30"/>
          <p:cNvSpPr/>
          <p:nvPr/>
        </p:nvSpPr>
        <p:spPr>
          <a:xfrm>
            <a:off x="7863840" y="4919472"/>
            <a:ext cx="3611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Foco comercial limpio</a:t>
            </a:r>
            <a:endParaRPr lang="en-US" sz="1500" dirty="0"/>
          </a:p>
        </p:txBody>
      </p:sp>
      <p:sp>
        <p:nvSpPr>
          <p:cNvPr id="36" name="Text 31"/>
          <p:cNvSpPr/>
          <p:nvPr/>
        </p:nvSpPr>
        <p:spPr>
          <a:xfrm>
            <a:off x="7863840" y="5285232"/>
            <a:ext cx="36118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lista de contactos generada es altamente confiable: minimiza el desperdicio de presupuesto de marketing.</a:t>
            </a:r>
            <a:endParaRPr lang="en-US" sz="1150" dirty="0"/>
          </a:p>
        </p:txBody>
      </p:sp>
      <p:sp>
        <p:nvSpPr>
          <p:cNvPr id="37" name="Text 32"/>
          <p:cNvSpPr/>
          <p:nvPr/>
        </p:nvSpPr>
        <p:spPr>
          <a:xfrm>
            <a:off x="548640" y="6419088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Allianz  ·  Predicción de Direct Debit con ML</a:t>
            </a:r>
            <a:endParaRPr lang="en-US" sz="900" dirty="0"/>
          </a:p>
        </p:txBody>
      </p:sp>
      <p:sp>
        <p:nvSpPr>
          <p:cNvPr id="38" name="Text 33"/>
          <p:cNvSpPr/>
          <p:nvPr/>
        </p:nvSpPr>
        <p:spPr>
          <a:xfrm>
            <a:off x="5486400" y="6419088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Resultados · Errores</a:t>
            </a:r>
            <a:endParaRPr lang="en-US" sz="900" dirty="0"/>
          </a:p>
        </p:txBody>
      </p:sp>
      <p:sp>
        <p:nvSpPr>
          <p:cNvPr id="39" name="Text 34"/>
          <p:cNvSpPr/>
          <p:nvPr/>
        </p:nvSpPr>
        <p:spPr>
          <a:xfrm>
            <a:off x="11430000" y="641908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PODER DE DISCRIMINACIÓN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Curvas ROC y Precision-Recall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440680" cy="4343400"/>
          </a:xfrm>
          <a:prstGeom prst="roundRect">
            <a:avLst>
              <a:gd name="adj" fmla="val 2105"/>
            </a:avLst>
          </a:prstGeom>
          <a:solidFill>
            <a:srgbClr val="F6F8FD"/>
          </a:solidFill>
          <a:ln/>
          <a:effectLst>
            <a:outerShdw sx="100000" sy="100000" kx="0" ky="0" algn="bl" rotWithShape="0" blurRad="114300" dist="38100" dir="5400000">
              <a:srgbClr val="9BB0D8">
                <a:alpha val="2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87452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Curva ROC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709160" y="1874520"/>
            <a:ext cx="1005840" cy="502920"/>
          </a:xfrm>
          <a:prstGeom prst="roundRect">
            <a:avLst>
              <a:gd name="adj" fmla="val 14545"/>
            </a:avLst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4709160" y="1874520"/>
            <a:ext cx="1005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E3C7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0.98</a:t>
            </a:r>
            <a:endParaRPr lang="en-US" sz="1700" dirty="0"/>
          </a:p>
        </p:txBody>
      </p:sp>
      <p:pic>
        <p:nvPicPr>
          <p:cNvPr id="8" name="Image 0" descr="assets/roc_curv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57300" y="2468880"/>
            <a:ext cx="4023360" cy="3017595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22960" y="5559627"/>
            <a:ext cx="48920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 de 0.98: separa de forma excelente los contratos que usan Direct Debit de los que no.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6199632" y="1691640"/>
            <a:ext cx="5440680" cy="4343400"/>
          </a:xfrm>
          <a:prstGeom prst="roundRect">
            <a:avLst>
              <a:gd name="adj" fmla="val 2105"/>
            </a:avLst>
          </a:prstGeom>
          <a:solidFill>
            <a:srgbClr val="F6F8FD"/>
          </a:solidFill>
          <a:ln/>
          <a:effectLst>
            <a:outerShdw sx="100000" sy="100000" kx="0" ky="0" algn="bl" rotWithShape="0" blurRad="114300" dist="38100" dir="5400000">
              <a:srgbClr val="9BB0D8">
                <a:alpha val="28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6473952" y="187452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Curva Precision-Recall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10360152" y="1874520"/>
            <a:ext cx="1005840" cy="502920"/>
          </a:xfrm>
          <a:prstGeom prst="roundRect">
            <a:avLst>
              <a:gd name="adj" fmla="val 14545"/>
            </a:avLst>
          </a:prstGeom>
          <a:solidFill>
            <a:srgbClr val="1E2761"/>
          </a:solidFill>
          <a:ln/>
        </p:spPr>
      </p:sp>
      <p:sp>
        <p:nvSpPr>
          <p:cNvPr id="13" name="Text 10"/>
          <p:cNvSpPr/>
          <p:nvPr/>
        </p:nvSpPr>
        <p:spPr>
          <a:xfrm>
            <a:off x="10360152" y="1874520"/>
            <a:ext cx="1005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E3C7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0.97</a:t>
            </a:r>
            <a:endParaRPr lang="en-US" sz="1700" dirty="0"/>
          </a:p>
        </p:txBody>
      </p:sp>
      <p:pic>
        <p:nvPicPr>
          <p:cNvPr id="14" name="Image 1" descr="assets/precision_recall_curv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8292" y="2468880"/>
            <a:ext cx="4023360" cy="3017595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6473952" y="5559627"/>
            <a:ext cx="48920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 de 0.97: mantiene alta precisión incluso al capturar gran parte de los positivos — clave con datos desbalanceados.</a:t>
            </a:r>
            <a:endParaRPr lang="en-US" sz="1150" dirty="0"/>
          </a:p>
        </p:txBody>
      </p:sp>
      <p:sp>
        <p:nvSpPr>
          <p:cNvPr id="16" name="Text 12"/>
          <p:cNvSpPr/>
          <p:nvPr/>
        </p:nvSpPr>
        <p:spPr>
          <a:xfrm>
            <a:off x="548640" y="6419088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Allianz  ·  Predicción de Direct Debit con ML</a:t>
            </a:r>
            <a:endParaRPr lang="en-US" sz="900" dirty="0"/>
          </a:p>
        </p:txBody>
      </p:sp>
      <p:sp>
        <p:nvSpPr>
          <p:cNvPr id="17" name="Text 13"/>
          <p:cNvSpPr/>
          <p:nvPr/>
        </p:nvSpPr>
        <p:spPr>
          <a:xfrm>
            <a:off x="5486400" y="6419088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Resultados · Discriminación</a:t>
            </a:r>
            <a:endParaRPr lang="en-US" sz="900" dirty="0"/>
          </a:p>
        </p:txBody>
      </p:sp>
      <p:sp>
        <p:nvSpPr>
          <p:cNvPr id="18" name="Text 14"/>
          <p:cNvSpPr/>
          <p:nvPr/>
        </p:nvSpPr>
        <p:spPr>
          <a:xfrm>
            <a:off x="11430000" y="641908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IMPULSA LA DECISIÓN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Variables más influyentes en la adopción</a:t>
            </a:r>
            <a:endParaRPr lang="en-US" sz="28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02920" y="1828800"/>
          <a:ext cx="6400800" cy="3977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086600" y="1828800"/>
            <a:ext cx="4553712" cy="1874520"/>
          </a:xfrm>
          <a:prstGeom prst="roundRect">
            <a:avLst>
              <a:gd name="adj" fmla="val 4878"/>
            </a:avLst>
          </a:prstGeom>
          <a:solidFill>
            <a:srgbClr val="EEF3FC"/>
          </a:solidFill>
          <a:ln w="12700">
            <a:solidFill>
              <a:srgbClr val="CADCFC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2084832"/>
            <a:ext cx="502920" cy="50292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955280" y="2029968"/>
            <a:ext cx="3520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5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forma de pago lo explica casi todo</a:t>
            </a:r>
            <a:endParaRPr lang="en-US" sz="1550" dirty="0"/>
          </a:p>
        </p:txBody>
      </p:sp>
      <p:sp>
        <p:nvSpPr>
          <p:cNvPr id="8" name="Text 4"/>
          <p:cNvSpPr/>
          <p:nvPr/>
        </p:nvSpPr>
        <p:spPr>
          <a:xfrm>
            <a:off x="7315200" y="2697480"/>
            <a:ext cx="41605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frecuencia mensual concentra el 81% de la importancia. Tiene sentido: Allianz obliga Direct Debit en contratos mensuales, así que el modelo aprende esta regla operativa.</a:t>
            </a:r>
            <a:endParaRPr lang="en-US" sz="1250" dirty="0"/>
          </a:p>
        </p:txBody>
      </p:sp>
      <p:sp>
        <p:nvSpPr>
          <p:cNvPr id="9" name="Shape 5"/>
          <p:cNvSpPr/>
          <p:nvPr/>
        </p:nvSpPr>
        <p:spPr>
          <a:xfrm>
            <a:off x="7086600" y="3886200"/>
            <a:ext cx="4553712" cy="1920240"/>
          </a:xfrm>
          <a:prstGeom prst="roundRect">
            <a:avLst>
              <a:gd name="adj" fmla="val 4762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14300" dist="38100" dir="5400000">
              <a:srgbClr val="9BB0D8">
                <a:alpha val="28000"/>
              </a:srgbClr>
            </a:outerShdw>
          </a:effectLst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0" y="4160520"/>
            <a:ext cx="502920" cy="50292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7955280" y="4114800"/>
            <a:ext cx="3520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E3C7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Recomendación técnica</a:t>
            </a:r>
            <a:endParaRPr lang="en-US" sz="1550" dirty="0"/>
          </a:p>
        </p:txBody>
      </p:sp>
      <p:sp>
        <p:nvSpPr>
          <p:cNvPr id="12" name="Text 7"/>
          <p:cNvSpPr/>
          <p:nvPr/>
        </p:nvSpPr>
        <p:spPr>
          <a:xfrm>
            <a:off x="7315200" y="4681728"/>
            <a:ext cx="41605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una versión más exigente, entrenar un modelo sin las variables de pago mensual para descubrir patrones secundarios (segmento, broker, geografía) y enriquecer la estrategia comercial.</a:t>
            </a:r>
            <a:endParaRPr lang="en-US" sz="1250" dirty="0"/>
          </a:p>
        </p:txBody>
      </p:sp>
      <p:sp>
        <p:nvSpPr>
          <p:cNvPr id="13" name="Text 8"/>
          <p:cNvSpPr/>
          <p:nvPr/>
        </p:nvSpPr>
        <p:spPr>
          <a:xfrm>
            <a:off x="548640" y="6419088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Allianz  ·  Predicción de Direct Debit con ML</a:t>
            </a:r>
            <a:endParaRPr lang="en-US" sz="900" dirty="0"/>
          </a:p>
        </p:txBody>
      </p:sp>
      <p:sp>
        <p:nvSpPr>
          <p:cNvPr id="14" name="Text 9"/>
          <p:cNvSpPr/>
          <p:nvPr/>
        </p:nvSpPr>
        <p:spPr>
          <a:xfrm>
            <a:off x="5486400" y="6419088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Resultados · Interpretabilidad</a:t>
            </a:r>
            <a:endParaRPr lang="en-US" sz="900" dirty="0"/>
          </a:p>
        </p:txBody>
      </p:sp>
      <p:sp>
        <p:nvSpPr>
          <p:cNvPr id="15" name="Text 10"/>
          <p:cNvSpPr/>
          <p:nvPr/>
        </p:nvSpPr>
        <p:spPr>
          <a:xfrm>
            <a:off x="11430000" y="641908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DECISIÓN DE MODELO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XGBoost vs. Random Forest: el tipo de error decide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166360" cy="2788920"/>
          </a:xfrm>
          <a:prstGeom prst="roundRect">
            <a:avLst>
              <a:gd name="adj" fmla="val 3279"/>
            </a:avLst>
          </a:prstGeom>
          <a:solidFill>
            <a:srgbClr val="F6F8FD"/>
          </a:solidFill>
          <a:ln/>
          <a:effectLst>
            <a:outerShdw sx="100000" sy="100000" kx="0" ky="0" algn="bl" rotWithShape="0" blurRad="114300" dist="38100" dir="5400000">
              <a:srgbClr val="9BB0D8">
                <a:alpha val="2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1920240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Random Forest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160520" y="1993392"/>
            <a:ext cx="1325880" cy="457200"/>
          </a:xfrm>
          <a:prstGeom prst="roundRect">
            <a:avLst>
              <a:gd name="adj" fmla="val 16000"/>
            </a:avLst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4160520" y="1993392"/>
            <a:ext cx="1325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CONSERVADOR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868680" y="2606040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291840" y="2606040"/>
            <a:ext cx="2194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98.54%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868680" y="2935224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291840" y="2935224"/>
            <a:ext cx="2194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100.0%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868680" y="3264408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291840" y="3264408"/>
            <a:ext cx="2194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93.04%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868680" y="3593592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ROC-AUC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291840" y="3593592"/>
            <a:ext cx="2194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0.980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868680" y="3977640"/>
            <a:ext cx="2331720" cy="411480"/>
          </a:xfrm>
          <a:prstGeom prst="roundRect">
            <a:avLst>
              <a:gd name="adj" fmla="val 13333"/>
            </a:avLst>
          </a:prstGeom>
          <a:solidFill>
            <a:srgbClr val="F0F2F8"/>
          </a:solidFill>
          <a:ln/>
        </p:spPr>
      </p:sp>
      <p:sp>
        <p:nvSpPr>
          <p:cNvPr id="17" name="Text 15"/>
          <p:cNvSpPr/>
          <p:nvPr/>
        </p:nvSpPr>
        <p:spPr>
          <a:xfrm>
            <a:off x="960120" y="3977640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Falsos positivos  </a:t>
            </a:r>
            <a:pPr indent="0" marL="0">
              <a:buNone/>
            </a:pPr>
            <a:r>
              <a:rPr lang="en-US" sz="1150" b="1" dirty="0">
                <a:solidFill>
                  <a:srgbClr val="B23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3291840" y="3977640"/>
            <a:ext cx="2194560" cy="411480"/>
          </a:xfrm>
          <a:prstGeom prst="roundRect">
            <a:avLst>
              <a:gd name="adj" fmla="val 13333"/>
            </a:avLst>
          </a:prstGeom>
          <a:solidFill>
            <a:srgbClr val="F0F2F8"/>
          </a:solidFill>
          <a:ln/>
        </p:spPr>
      </p:sp>
      <p:sp>
        <p:nvSpPr>
          <p:cNvPr id="19" name="Text 17"/>
          <p:cNvSpPr/>
          <p:nvPr/>
        </p:nvSpPr>
        <p:spPr>
          <a:xfrm>
            <a:off x="3383280" y="3977640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Falsos neg.  </a:t>
            </a:r>
            <a:pPr indent="0" marL="0">
              <a:buNone/>
            </a:pPr>
            <a:r>
              <a:rPr lang="en-US" sz="1150" b="1" dirty="0">
                <a:solidFill>
                  <a:srgbClr val="B23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1,323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473952" y="1737360"/>
            <a:ext cx="5166360" cy="2788920"/>
          </a:xfrm>
          <a:prstGeom prst="roundRect">
            <a:avLst>
              <a:gd name="adj" fmla="val 3279"/>
            </a:avLst>
          </a:prstGeom>
          <a:solidFill>
            <a:srgbClr val="FBF6E6"/>
          </a:solidFill>
          <a:ln w="19050">
            <a:solidFill>
              <a:srgbClr val="C9A227"/>
            </a:solidFill>
            <a:prstDash val="solid"/>
          </a:ln>
          <a:effectLst>
            <a:outerShdw sx="100000" sy="100000" kx="0" ky="0" algn="bl" rotWithShape="0" blurRad="114300" dist="38100" dir="5400000">
              <a:srgbClr val="9BB0D8">
                <a:alpha val="2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793992" y="1920240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XGBoost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10085832" y="1993392"/>
            <a:ext cx="1325880" cy="457200"/>
          </a:xfrm>
          <a:prstGeom prst="roundRect">
            <a:avLst>
              <a:gd name="adj" fmla="val 16000"/>
            </a:avLst>
          </a:prstGeom>
          <a:solidFill>
            <a:srgbClr val="C9A227"/>
          </a:solidFill>
          <a:ln/>
        </p:spPr>
      </p:sp>
      <p:sp>
        <p:nvSpPr>
          <p:cNvPr id="23" name="Text 21"/>
          <p:cNvSpPr/>
          <p:nvPr/>
        </p:nvSpPr>
        <p:spPr>
          <a:xfrm>
            <a:off x="10085832" y="1993392"/>
            <a:ext cx="1325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SELECCIONADO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6793992" y="2606040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9217152" y="2606040"/>
            <a:ext cx="2194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98.53%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6793992" y="2935224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9217152" y="2935224"/>
            <a:ext cx="2194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99.83%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6793992" y="3264408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9217152" y="3264408"/>
            <a:ext cx="2194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93.17%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6793992" y="3593592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ROC-AUC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9217152" y="3593592"/>
            <a:ext cx="2194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0.982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6793992" y="3977640"/>
            <a:ext cx="2331720" cy="411480"/>
          </a:xfrm>
          <a:prstGeom prst="roundRect">
            <a:avLst>
              <a:gd name="adj" fmla="val 13333"/>
            </a:avLst>
          </a:prstGeom>
          <a:solidFill>
            <a:srgbClr val="F0F2F8"/>
          </a:solidFill>
          <a:ln/>
        </p:spPr>
      </p:sp>
      <p:sp>
        <p:nvSpPr>
          <p:cNvPr id="33" name="Text 31"/>
          <p:cNvSpPr/>
          <p:nvPr/>
        </p:nvSpPr>
        <p:spPr>
          <a:xfrm>
            <a:off x="6885432" y="3977640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Falsos positivos  </a:t>
            </a:r>
            <a:pPr indent="0" marL="0">
              <a:buNone/>
            </a:pPr>
            <a:r>
              <a:rPr lang="en-US" sz="1150" b="1" dirty="0">
                <a:solidFill>
                  <a:srgbClr val="B23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9217152" y="3977640"/>
            <a:ext cx="2194560" cy="411480"/>
          </a:xfrm>
          <a:prstGeom prst="roundRect">
            <a:avLst>
              <a:gd name="adj" fmla="val 13333"/>
            </a:avLst>
          </a:prstGeom>
          <a:solidFill>
            <a:srgbClr val="F0F2F8"/>
          </a:solidFill>
          <a:ln/>
        </p:spPr>
      </p:sp>
      <p:sp>
        <p:nvSpPr>
          <p:cNvPr id="35" name="Text 33"/>
          <p:cNvSpPr/>
          <p:nvPr/>
        </p:nvSpPr>
        <p:spPr>
          <a:xfrm>
            <a:off x="9308592" y="3977640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Falsos neg.  </a:t>
            </a:r>
            <a:pPr indent="0" marL="0">
              <a:buNone/>
            </a:pPr>
            <a:r>
              <a:rPr lang="en-US" sz="1150" b="1" dirty="0">
                <a:solidFill>
                  <a:srgbClr val="B23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1,298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548640" y="4754880"/>
            <a:ext cx="11091672" cy="1325880"/>
          </a:xfrm>
          <a:prstGeom prst="roundRect">
            <a:avLst>
              <a:gd name="adj" fmla="val 6897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14300" dist="38100" dir="5400000">
              <a:srgbClr val="9BB0D8">
                <a:alpha val="28000"/>
              </a:srgbClr>
            </a:outerShdw>
          </a:effectLst>
        </p:spPr>
      </p:sp>
      <p:pic>
        <p:nvPicPr>
          <p:cNvPr id="3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5138928"/>
            <a:ext cx="594360" cy="594360"/>
          </a:xfrm>
          <a:prstGeom prst="rect">
            <a:avLst/>
          </a:prstGeom>
        </p:spPr>
      </p:pic>
      <p:sp>
        <p:nvSpPr>
          <p:cNvPr id="38" name="Text 35"/>
          <p:cNvSpPr/>
          <p:nvPr/>
        </p:nvSpPr>
        <p:spPr>
          <a:xfrm>
            <a:off x="1645920" y="4892040"/>
            <a:ext cx="97840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E3C7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Elegimos XGBoost. 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Ambos modelos son válidos y casi idénticos en exactitud. Random Forest es más conservador (0 falsos positivos); XGBoost detecta más oportunidades reales con mejor recall, ROC-AUC y Average Precision. Como el objetivo es </a:t>
            </a:r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capturar el mayor número de oportunidades de conversión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XGBoost es la opción más alineada al negocio.</a:t>
            </a:r>
            <a:endParaRPr lang="en-US" sz="1300" dirty="0"/>
          </a:p>
        </p:txBody>
      </p:sp>
      <p:sp>
        <p:nvSpPr>
          <p:cNvPr id="39" name="Text 36"/>
          <p:cNvSpPr/>
          <p:nvPr/>
        </p:nvSpPr>
        <p:spPr>
          <a:xfrm>
            <a:off x="548640" y="6419088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Allianz  ·  Predicción de Direct Debit con ML</a:t>
            </a:r>
            <a:endParaRPr lang="en-US" sz="900" dirty="0"/>
          </a:p>
        </p:txBody>
      </p:sp>
      <p:sp>
        <p:nvSpPr>
          <p:cNvPr id="40" name="Text 37"/>
          <p:cNvSpPr/>
          <p:nvPr/>
        </p:nvSpPr>
        <p:spPr>
          <a:xfrm>
            <a:off x="5486400" y="6419088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Decisión de modelo</a:t>
            </a:r>
            <a:endParaRPr lang="en-US" sz="900" dirty="0"/>
          </a:p>
        </p:txBody>
      </p:sp>
      <p:sp>
        <p:nvSpPr>
          <p:cNvPr id="41" name="Text 38"/>
          <p:cNvSpPr/>
          <p:nvPr/>
        </p:nvSpPr>
        <p:spPr>
          <a:xfrm>
            <a:off x="11430000" y="641908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 DE NEGOCIO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Una lista priorizada, lista para activar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486400" cy="4069080"/>
          </a:xfrm>
          <a:prstGeom prst="roundRect">
            <a:avLst>
              <a:gd name="adj" fmla="val 2247"/>
            </a:avLst>
          </a:prstGeom>
          <a:solidFill>
            <a:srgbClr val="F6F8FD"/>
          </a:solidFill>
          <a:ln/>
          <a:effectLst>
            <a:outerShdw sx="100000" sy="100000" kx="0" ky="0" algn="bl" rotWithShape="0" blurRad="114300" dist="38100" dir="5400000">
              <a:srgbClr val="9BB0D8">
                <a:alpha val="28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2103120"/>
            <a:ext cx="640080" cy="6400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645920" y="2103120"/>
            <a:ext cx="4206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Contratos candidatos a Direct Debit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914400" y="2971800"/>
            <a:ext cx="484632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Contratos que hoy NO usan Direct Debit pero tienen alta probabilidad de adoptarlo.</a:t>
            </a:r>
            <a:endParaRPr lang="en-US" sz="1350" dirty="0"/>
          </a:p>
          <a:p>
            <a:pPr marL="228600" indent="-2286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Probabilidad estimada entre ~0.50 y ~0.71 para los principales candidatos.</a:t>
            </a:r>
            <a:endParaRPr lang="en-US" sz="1350" dirty="0"/>
          </a:p>
          <a:p>
            <a:pPr marL="228600" indent="-2286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Concentrados en segmento Retail, con frecuencia de pago Quarterly.</a:t>
            </a:r>
            <a:endParaRPr lang="en-US" sz="1350" dirty="0"/>
          </a:p>
          <a:p>
            <a:pPr marL="228600" indent="-2286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Líneas predominantes: Liability, Property, Accident y Motor.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6263640" y="1828800"/>
            <a:ext cx="5376672" cy="4069080"/>
          </a:xfrm>
          <a:prstGeom prst="roundRect">
            <a:avLst>
              <a:gd name="adj" fmla="val 2247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14300" dist="38100" dir="5400000">
              <a:srgbClr val="9BB0D8">
                <a:alpha val="28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6583680" y="205740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3C7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 campaña masiva a foco quirúrgico</a:t>
            </a:r>
            <a:endParaRPr lang="en-US" sz="1700" dirty="0"/>
          </a:p>
        </p:txBody>
      </p:sp>
      <p:sp>
        <p:nvSpPr>
          <p:cNvPr id="10" name="Shape 7"/>
          <p:cNvSpPr/>
          <p:nvPr/>
        </p:nvSpPr>
        <p:spPr>
          <a:xfrm>
            <a:off x="6583680" y="2743200"/>
            <a:ext cx="4754880" cy="658368"/>
          </a:xfrm>
          <a:prstGeom prst="roundRect">
            <a:avLst>
              <a:gd name="adj" fmla="val 8333"/>
            </a:avLst>
          </a:prstGeom>
          <a:solidFill>
            <a:srgbClr val="33407A"/>
          </a:solidFill>
          <a:ln/>
        </p:spPr>
      </p:sp>
      <p:sp>
        <p:nvSpPr>
          <p:cNvPr id="11" name="Text 8"/>
          <p:cNvSpPr/>
          <p:nvPr/>
        </p:nvSpPr>
        <p:spPr>
          <a:xfrm>
            <a:off x="6583680" y="2743200"/>
            <a:ext cx="47548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 la base de contratos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7040880" y="3520440"/>
            <a:ext cx="3840480" cy="658368"/>
          </a:xfrm>
          <a:prstGeom prst="roundRect">
            <a:avLst>
              <a:gd name="adj" fmla="val 8333"/>
            </a:avLst>
          </a:prstGeom>
          <a:solidFill>
            <a:srgbClr val="3C4A8C"/>
          </a:solidFill>
          <a:ln/>
        </p:spPr>
      </p:sp>
      <p:sp>
        <p:nvSpPr>
          <p:cNvPr id="13" name="Text 10"/>
          <p:cNvSpPr/>
          <p:nvPr/>
        </p:nvSpPr>
        <p:spPr>
          <a:xfrm>
            <a:off x="7040880" y="3520440"/>
            <a:ext cx="3840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Direct Debit hoy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7498080" y="4297680"/>
            <a:ext cx="2926080" cy="658368"/>
          </a:xfrm>
          <a:prstGeom prst="roundRect">
            <a:avLst>
              <a:gd name="adj" fmla="val 8333"/>
            </a:avLst>
          </a:prstGeom>
          <a:solidFill>
            <a:srgbClr val="C9A227"/>
          </a:solidFill>
          <a:ln/>
        </p:spPr>
      </p:sp>
      <p:sp>
        <p:nvSpPr>
          <p:cNvPr id="15" name="Text 12"/>
          <p:cNvSpPr/>
          <p:nvPr/>
        </p:nvSpPr>
        <p:spPr>
          <a:xfrm>
            <a:off x="7498080" y="4297680"/>
            <a:ext cx="29260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Alta probabilidad (modelo)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7909560" y="5074920"/>
            <a:ext cx="2103120" cy="658368"/>
          </a:xfrm>
          <a:prstGeom prst="roundRect">
            <a:avLst>
              <a:gd name="adj" fmla="val 8333"/>
            </a:avLst>
          </a:prstGeom>
          <a:solidFill>
            <a:srgbClr val="E3C766"/>
          </a:solidFill>
          <a:ln/>
        </p:spPr>
      </p:sp>
      <p:sp>
        <p:nvSpPr>
          <p:cNvPr id="17" name="Text 14"/>
          <p:cNvSpPr/>
          <p:nvPr/>
        </p:nvSpPr>
        <p:spPr>
          <a:xfrm>
            <a:off x="7909560" y="5074920"/>
            <a:ext cx="21031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Campaña priorizada</a:t>
            </a:r>
            <a:endParaRPr lang="en-US" sz="1250" dirty="0"/>
          </a:p>
        </p:txBody>
      </p:sp>
      <p:sp>
        <p:nvSpPr>
          <p:cNvPr id="18" name="Text 15"/>
          <p:cNvSpPr/>
          <p:nvPr/>
        </p:nvSpPr>
        <p:spPr>
          <a:xfrm>
            <a:off x="548640" y="6419088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Allianz  ·  Predicción de Direct Debit con ML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5486400" y="6419088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 de negocio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11430000" y="641908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3474720"/>
            <a:ext cx="5486400" cy="5486400"/>
          </a:xfrm>
          <a:prstGeom prst="ellipse">
            <a:avLst/>
          </a:prstGeom>
          <a:solidFill>
            <a:srgbClr val="151B47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64008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RECOMENDACIÓN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731520" y="1005840"/>
            <a:ext cx="10698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Implementar XGBoost para dirigir campañas de Direct Debit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731520" y="2423160"/>
            <a:ext cx="5212080" cy="1691640"/>
          </a:xfrm>
          <a:prstGeom prst="roundRect">
            <a:avLst>
              <a:gd name="adj" fmla="val 5405"/>
            </a:avLst>
          </a:prstGeom>
          <a:solidFill>
            <a:srgbClr val="232C5C"/>
          </a:solidFill>
          <a:ln/>
          <a:effectLst>
            <a:outerShdw sx="100000" sy="100000" kx="0" ky="0" algn="bl" rotWithShape="0" blurRad="127000" dist="38100" dir="54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005840" y="2743200"/>
            <a:ext cx="777240" cy="777240"/>
          </a:xfrm>
          <a:prstGeom prst="ellipse">
            <a:avLst/>
          </a:prstGeom>
          <a:solidFill>
            <a:srgbClr val="151B47"/>
          </a:solidFill>
          <a:ln w="12700">
            <a:solidFill>
              <a:srgbClr val="3C4A8C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79576" y="2916936"/>
            <a:ext cx="429768" cy="42976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965960" y="2679192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3C7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Activar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1965960" y="3136392"/>
            <a:ext cx="37490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Entregar la lista priorizada a Marketing y Comercial para una campaña piloto enfocada en los candidatos de mayor probabilidad.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6245352" y="2423160"/>
            <a:ext cx="5212080" cy="1691640"/>
          </a:xfrm>
          <a:prstGeom prst="roundRect">
            <a:avLst>
              <a:gd name="adj" fmla="val 5405"/>
            </a:avLst>
          </a:prstGeom>
          <a:solidFill>
            <a:srgbClr val="232C5C"/>
          </a:solidFill>
          <a:ln/>
          <a:effectLst>
            <a:outerShdw sx="100000" sy="100000" kx="0" ky="0" algn="bl" rotWithShape="0" blurRad="127000" dist="38100" dir="5400000">
              <a:srgbClr val="000000">
                <a:alpha val="3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519672" y="2743200"/>
            <a:ext cx="777240" cy="777240"/>
          </a:xfrm>
          <a:prstGeom prst="ellipse">
            <a:avLst/>
          </a:prstGeom>
          <a:solidFill>
            <a:srgbClr val="151B47"/>
          </a:solidFill>
          <a:ln w="12700">
            <a:solidFill>
              <a:srgbClr val="3C4A8C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93408" y="2916936"/>
            <a:ext cx="429768" cy="42976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479792" y="2679192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3C7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Medir incrementalidad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7479792" y="3136392"/>
            <a:ext cx="37490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Diseñar un grupo de control para cuantificar la conversión real atribuible al modelo y el impacto en el CCC.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731520" y="4389120"/>
            <a:ext cx="5212080" cy="1691640"/>
          </a:xfrm>
          <a:prstGeom prst="roundRect">
            <a:avLst>
              <a:gd name="adj" fmla="val 5405"/>
            </a:avLst>
          </a:prstGeom>
          <a:solidFill>
            <a:srgbClr val="232C5C"/>
          </a:solidFill>
          <a:ln/>
          <a:effectLst>
            <a:outerShdw sx="100000" sy="100000" kx="0" ky="0" algn="bl" rotWithShape="0" blurRad="127000" dist="38100" dir="5400000">
              <a:srgbClr val="000000">
                <a:alpha val="3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1005840" y="4709160"/>
            <a:ext cx="777240" cy="777240"/>
          </a:xfrm>
          <a:prstGeom prst="ellipse">
            <a:avLst/>
          </a:prstGeom>
          <a:solidFill>
            <a:srgbClr val="151B47"/>
          </a:solidFill>
          <a:ln w="12700">
            <a:solidFill>
              <a:srgbClr val="3C4A8C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9576" y="4882896"/>
            <a:ext cx="429768" cy="42976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965960" y="4645152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3C7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Robustecer el modelo</a:t>
            </a:r>
            <a:endParaRPr lang="en-US" sz="1800" dirty="0"/>
          </a:p>
        </p:txBody>
      </p:sp>
      <p:sp>
        <p:nvSpPr>
          <p:cNvPr id="19" name="Text 14"/>
          <p:cNvSpPr/>
          <p:nvPr/>
        </p:nvSpPr>
        <p:spPr>
          <a:xfrm>
            <a:off x="1965960" y="5102352"/>
            <a:ext cx="37490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Reentrenar sin las variables de pago mensual para descubrir señales secundarias y reducir la dependencia de una regla operativa.</a:t>
            </a:r>
            <a:endParaRPr lang="en-US" sz="1250" dirty="0"/>
          </a:p>
        </p:txBody>
      </p:sp>
      <p:sp>
        <p:nvSpPr>
          <p:cNvPr id="20" name="Shape 15"/>
          <p:cNvSpPr/>
          <p:nvPr/>
        </p:nvSpPr>
        <p:spPr>
          <a:xfrm>
            <a:off x="6245352" y="4389120"/>
            <a:ext cx="5212080" cy="1691640"/>
          </a:xfrm>
          <a:prstGeom prst="roundRect">
            <a:avLst>
              <a:gd name="adj" fmla="val 5405"/>
            </a:avLst>
          </a:prstGeom>
          <a:solidFill>
            <a:srgbClr val="232C5C"/>
          </a:solidFill>
          <a:ln/>
          <a:effectLst>
            <a:outerShdw sx="100000" sy="100000" kx="0" ky="0" algn="bl" rotWithShape="0" blurRad="127000" dist="38100" dir="5400000">
              <a:srgbClr val="000000">
                <a:alpha val="30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6519672" y="4709160"/>
            <a:ext cx="777240" cy="777240"/>
          </a:xfrm>
          <a:prstGeom prst="ellipse">
            <a:avLst/>
          </a:prstGeom>
          <a:solidFill>
            <a:srgbClr val="151B47"/>
          </a:solidFill>
          <a:ln w="12700">
            <a:solidFill>
              <a:srgbClr val="3C4A8C"/>
            </a:solidFill>
            <a:prstDash val="solid"/>
          </a:ln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93408" y="4882896"/>
            <a:ext cx="429768" cy="429768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479792" y="4645152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3C7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Monitorear y escalar</a:t>
            </a:r>
            <a:endParaRPr lang="en-US" sz="1800" dirty="0"/>
          </a:p>
        </p:txBody>
      </p:sp>
      <p:sp>
        <p:nvSpPr>
          <p:cNvPr id="24" name="Text 18"/>
          <p:cNvSpPr/>
          <p:nvPr/>
        </p:nvSpPr>
        <p:spPr>
          <a:xfrm>
            <a:off x="7479792" y="5102352"/>
            <a:ext cx="37490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Vigilar el recall en producción, recalibrar periódicamente y extender el enfoque a otras líneas y mercados Benelux.</a:t>
            </a:r>
            <a:endParaRPr lang="en-US" sz="1250" dirty="0"/>
          </a:p>
        </p:txBody>
      </p:sp>
      <p:sp>
        <p:nvSpPr>
          <p:cNvPr id="25" name="Text 19"/>
          <p:cNvSpPr/>
          <p:nvPr/>
        </p:nvSpPr>
        <p:spPr>
          <a:xfrm>
            <a:off x="548640" y="6419088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Allianz  ·  Predicción de Direct Debit con ML</a:t>
            </a:r>
            <a:endParaRPr lang="en-US" sz="900" dirty="0"/>
          </a:p>
        </p:txBody>
      </p:sp>
      <p:sp>
        <p:nvSpPr>
          <p:cNvPr id="26" name="Text 20"/>
          <p:cNvSpPr/>
          <p:nvPr/>
        </p:nvSpPr>
        <p:spPr>
          <a:xfrm>
            <a:off x="5486400" y="6419088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Recomendación · Siguientes pasos</a:t>
            </a:r>
            <a:endParaRPr lang="en-US" sz="900" dirty="0"/>
          </a:p>
        </p:txBody>
      </p:sp>
      <p:sp>
        <p:nvSpPr>
          <p:cNvPr id="27" name="Text 21"/>
          <p:cNvSpPr/>
          <p:nvPr/>
        </p:nvSpPr>
        <p:spPr>
          <a:xfrm>
            <a:off x="11430000" y="641908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-2286000"/>
            <a:ext cx="5943600" cy="5943600"/>
          </a:xfrm>
          <a:prstGeom prst="ellipse">
            <a:avLst/>
          </a:prstGeom>
          <a:solidFill>
            <a:srgbClr val="151B47"/>
          </a:solidFill>
          <a:ln/>
        </p:spPr>
      </p:sp>
      <p:sp>
        <p:nvSpPr>
          <p:cNvPr id="3" name="Shape 1"/>
          <p:cNvSpPr/>
          <p:nvPr/>
        </p:nvSpPr>
        <p:spPr>
          <a:xfrm>
            <a:off x="9601200" y="3657600"/>
            <a:ext cx="5029200" cy="5029200"/>
          </a:xfrm>
          <a:prstGeom prst="ellipse">
            <a:avLst/>
          </a:prstGeom>
          <a:solidFill>
            <a:srgbClr val="151B47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0" y="1417320"/>
            <a:ext cx="1188720" cy="11887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14400" y="2743200"/>
            <a:ext cx="10332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Convertir datos en flujo de efectivo</a:t>
            </a:r>
            <a:endParaRPr lang="en-US" sz="3600" dirty="0"/>
          </a:p>
        </p:txBody>
      </p:sp>
      <p:sp>
        <p:nvSpPr>
          <p:cNvPr id="6" name="Text 3"/>
          <p:cNvSpPr/>
          <p:nvPr/>
        </p:nvSpPr>
        <p:spPr>
          <a:xfrm>
            <a:off x="1691640" y="3657600"/>
            <a:ext cx="87782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modelo de grado productivo (98.5% accuracy, ROC-AUC 0.98) que transforma la pregunta del consejo en una lista accionable: campañas con foco, menos gasto desperdiciado y un ciclo de caja más corto.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4114800" y="4983480"/>
            <a:ext cx="3959352" cy="0"/>
          </a:xfrm>
          <a:prstGeom prst="line">
            <a:avLst/>
          </a:prstGeom>
          <a:noFill/>
          <a:ln w="15875">
            <a:solidFill>
              <a:srgbClr val="C9A2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914400" y="5166360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3C7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Gracias  ·  Preguntas y discusión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914400" y="5669280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Equipo de Data Analytics  ·  Allianz Benelux Data &amp; Analytics Office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Allianz – Predicción de Direct Debit con Machine Learning</dc:title>
  <dc:subject>PptxGenJS Presentation</dc:subject>
  <dc:creator>Equipo Data Analytics</dc:creator>
  <cp:lastModifiedBy>Equipo Data Analytics</cp:lastModifiedBy>
  <cp:revision>1</cp:revision>
  <dcterms:created xsi:type="dcterms:W3CDTF">2026-06-09T05:05:37Z</dcterms:created>
  <dcterms:modified xsi:type="dcterms:W3CDTF">2026-06-09T05:05:37Z</dcterms:modified>
</cp:coreProperties>
</file>